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B5D3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 fraud probability</c:v>
                  </c:pt>
                  <c:pt idx="1">
                    <c:v>Behavioural signals</c:v>
                  </c:pt>
                  <c:pt idx="2">
                    <c:v>Device trust</c:v>
                  </c:pt>
                  <c:pt idx="3">
                    <c:v>Environmental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</c:v>
                </c:pt>
                <c:pt idx="1">
                  <c:v>0.25</c:v>
                </c:pt>
                <c:pt idx="2">
                  <c:v>0.25</c:v>
                </c:pt>
                <c:pt idx="3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these slides. Open only if the jury asks for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is read from security/security_rules.py, the single source of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chatbot or FRI/MNRL, answer straight: not built, here is where it plugs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57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SecureWealth Twin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6868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First, Security Always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36118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path for wealth advice and fraud defence — both explainable to the customer, in three languages, on the bank’s own infrastructure.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5897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&amp; Sind Bank Hackathon Series 2026  ·  Supporting material for Q&amp;A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NEW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you will not see elsewhere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1298448"/>
          </a:xfrm>
          <a:prstGeom prst="roundRect">
            <a:avLst>
              <a:gd name="adj" fmla="val 6338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828800"/>
            <a:ext cx="420624" cy="42062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72768" y="174650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that is allowed to say no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72768" y="21214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customer has no investable surplus, the engine suppresses product advice entirely and tells them to fix expenses first. A wealth engine that cannot decline is a sales funnel.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0881360" cy="1298448"/>
          </a:xfrm>
          <a:prstGeom prst="roundRect">
            <a:avLst>
              <a:gd name="adj" fmla="val 6338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3310128"/>
            <a:ext cx="420624" cy="42062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72768" y="322783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trail that survives its own bank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72768" y="360273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replicas, a hash chain, and an Ed25519 signature per record. Conflicts are settled by signature authority, not majority vote — so an insider who rewrites three of four copies still loses.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35424"/>
            <a:ext cx="10881360" cy="1298448"/>
          </a:xfrm>
          <a:prstGeom prst="roundRect">
            <a:avLst>
              <a:gd name="adj" fmla="val 6338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791456"/>
            <a:ext cx="420624" cy="42062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791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72768" y="470916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detection, not just rules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72768" y="508406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PyTorch autoencoder trained only on legitimate behaviour flags patterns no rule anticipated. When it is unsure, the pipeline challenges — never a silent allow.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08990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demonstrated live — none of them are slideware.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investment is judged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975104" cy="914400"/>
          </a:xfrm>
          <a:prstGeom prst="roundRect">
            <a:avLst>
              <a:gd name="adj" fmla="val 9000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934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88366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boolean signals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33472" y="1609344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07792" y="1481328"/>
            <a:ext cx="1975104" cy="914400"/>
          </a:xfrm>
          <a:prstGeom prst="roundRect">
            <a:avLst>
              <a:gd name="adj" fmla="val 9000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60934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07792" y="188366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22 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01184" y="1609344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75504" y="1481328"/>
            <a:ext cx="1975104" cy="914400"/>
          </a:xfrm>
          <a:prstGeom prst="roundRect">
            <a:avLst>
              <a:gd name="adj" fmla="val 9000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160934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75504" y="188366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68896" y="1609344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43216" y="1481328"/>
            <a:ext cx="1975104" cy="914400"/>
          </a:xfrm>
          <a:prstGeom prst="roundRect">
            <a:avLst>
              <a:gd name="adj" fmla="val 9000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3216" y="160934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43216" y="188366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0–100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36608" y="1609344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710928" y="1481328"/>
            <a:ext cx="1975104" cy="914400"/>
          </a:xfrm>
          <a:prstGeom prst="roundRect">
            <a:avLst>
              <a:gd name="adj" fmla="val 9000"/>
            </a:avLst>
          </a:prstGeom>
          <a:solidFill>
            <a:srgbClr val="E8F0EA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0928" y="160934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710928" y="188366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bands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269748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composition</a:t>
            </a:r>
            <a:endParaRPr lang="en-US" sz="15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02920" y="3017520"/>
          <a:ext cx="60350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6858000" y="269748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decides the outcome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858000" y="3054096"/>
            <a:ext cx="1481328" cy="457200"/>
          </a:xfrm>
          <a:prstGeom prst="roundRect">
            <a:avLst>
              <a:gd name="adj" fmla="val 14000"/>
            </a:avLst>
          </a:prstGeom>
          <a:solidFill>
            <a:srgbClr val="0B5D3B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0" y="305409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449056" y="30540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30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363456" y="3054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through. No friction.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858000" y="3657600"/>
            <a:ext cx="1481328" cy="457200"/>
          </a:xfrm>
          <a:prstGeom prst="roundRect">
            <a:avLst>
              <a:gd name="adj" fmla="val 14000"/>
            </a:avLst>
          </a:prstGeom>
          <a:solidFill>
            <a:srgbClr val="6E8B3D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36576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449056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– 55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9363456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Proceeds with an advisory.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858000" y="4261104"/>
            <a:ext cx="1481328" cy="457200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/>
        </p:spPr>
      </p:sp>
      <p:sp>
        <p:nvSpPr>
          <p:cNvPr id="35" name="Text 32"/>
          <p:cNvSpPr/>
          <p:nvPr/>
        </p:nvSpPr>
        <p:spPr>
          <a:xfrm>
            <a:off x="6858000" y="426110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449056" y="42611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– 79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9363456" y="42611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before money moves.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858000" y="4864608"/>
            <a:ext cx="1481328" cy="457200"/>
          </a:xfrm>
          <a:prstGeom prst="roundRect">
            <a:avLst>
              <a:gd name="adj" fmla="val 14000"/>
            </a:avLst>
          </a:prstGeom>
          <a:solidFill>
            <a:srgbClr val="B3261E"/>
          </a:solidFill>
          <a:ln/>
        </p:spPr>
      </p:sp>
      <p:sp>
        <p:nvSpPr>
          <p:cNvPr id="39" name="Text 36"/>
          <p:cNvSpPr/>
          <p:nvPr/>
        </p:nvSpPr>
        <p:spPr>
          <a:xfrm>
            <a:off x="6858000" y="486460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449056" y="48646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– 100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9363456" y="4864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and reported.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858000" y="55046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sum to 1.0 and that is asserted at import — the app refuses to start otherwise.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behavioural signals, and what fires them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484632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condition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extreme_amount_spike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5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10× the customer’s own 90-day 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 policy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otp_distress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5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entered in under 2.5 seconds — bot or coercion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SP 800-63B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velocity_burst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5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or more transactions inside five minutes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RBI velocity ceiling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round_number_anomaly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5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Round-amount share above 35% (baseline 15%)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Benford / FATF R.16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amount_spike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5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mean + 3σ, or more than 3× the 90-day 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Per-customer z-score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otp_relay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5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entered after more than 60 seconds — relay attack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SP 800-63B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night_owl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5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23:01 and 05:59 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RBI 2025-26/219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new_recipient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5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not seen before in this customer’s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First-party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fixed rupee limit anywhere in the system. Every threshold is derived from the individual customer’s own history — which is why ₹95,000 is challenged for one customer and ₹90,000 passes for another.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five different answers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7818120" cy="768096"/>
          </a:xfrm>
          <a:prstGeom prst="roundRect">
            <a:avLst>
              <a:gd name="adj" fmla="val 10714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664208"/>
            <a:ext cx="420624" cy="4206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600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at or near zero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all product advice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41080" y="1481328"/>
            <a:ext cx="2880360" cy="768096"/>
          </a:xfrm>
          <a:prstGeom prst="roundRect">
            <a:avLst>
              <a:gd name="adj" fmla="val 10714"/>
            </a:avLst>
          </a:prstGeom>
          <a:solidFill>
            <a:srgbClr val="E8F0EA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1481328"/>
            <a:ext cx="2880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386584"/>
            <a:ext cx="7818120" cy="768096"/>
          </a:xfrm>
          <a:prstGeom prst="roundRect">
            <a:avLst>
              <a:gd name="adj" fmla="val 10714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569464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25054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under 4 months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 before anything else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41080" y="2386584"/>
            <a:ext cx="2880360" cy="768096"/>
          </a:xfrm>
          <a:prstGeom prst="roundRect">
            <a:avLst>
              <a:gd name="adj" fmla="val 10714"/>
            </a:avLst>
          </a:prstGeom>
          <a:solidFill>
            <a:srgbClr val="E8F0EA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2386584"/>
            <a:ext cx="2880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7818120" cy="768096"/>
          </a:xfrm>
          <a:prstGeom prst="roundRect">
            <a:avLst>
              <a:gd name="adj" fmla="val 10714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347472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81328" y="34107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above 0.50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34107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costliest loan first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41080" y="3291840"/>
            <a:ext cx="2880360" cy="768096"/>
          </a:xfrm>
          <a:prstGeom prst="roundRect">
            <a:avLst>
              <a:gd name="adj" fmla="val 10714"/>
            </a:avLst>
          </a:prstGeom>
          <a:solidFill>
            <a:srgbClr val="E8F0EA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3291840"/>
            <a:ext cx="2880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197096"/>
            <a:ext cx="7818120" cy="768096"/>
          </a:xfrm>
          <a:prstGeom prst="roundRect">
            <a:avLst>
              <a:gd name="adj" fmla="val 10714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4379976"/>
            <a:ext cx="420624" cy="42062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81328" y="4315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cash far above the buffer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46320" y="43159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deposit; flag maturing FDs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41080" y="4197096"/>
            <a:ext cx="2880360" cy="768096"/>
          </a:xfrm>
          <a:prstGeom prst="roundRect">
            <a:avLst>
              <a:gd name="adj" fmla="val 10714"/>
            </a:avLst>
          </a:prstGeom>
          <a:solidFill>
            <a:srgbClr val="E8F0EA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4197096"/>
            <a:ext cx="2880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0080" y="5102352"/>
            <a:ext cx="7818120" cy="768096"/>
          </a:xfrm>
          <a:prstGeom prst="roundRect">
            <a:avLst>
              <a:gd name="adj" fmla="val 10714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112" y="5285232"/>
            <a:ext cx="420624" cy="42062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5285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81328" y="52212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covered, debt healthy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46320" y="522122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via SIP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641080" y="5102352"/>
            <a:ext cx="2880360" cy="768096"/>
          </a:xfrm>
          <a:prstGeom prst="roundRect">
            <a:avLst>
              <a:gd name="adj" fmla="val 10714"/>
            </a:avLst>
          </a:prstGeom>
          <a:solidFill>
            <a:srgbClr val="E8F0EA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5102352"/>
            <a:ext cx="2880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Swayam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0080" y="61081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stops at the first branch that applies, which is why each customer gets exactly one primary recommendation. Only mutual funds and deposits are ever recommended — no stocks, enforced in code.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RESISTANCE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majority voting is the wrong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FBEFEF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with database access rewrites a payment record — and updates three of the four replicas to match.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system that resolves conflicts by majority now accepts the forgery: three copies agree.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realistic insider threat. It is not solved by more replicas.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E8F0EA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642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084832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carries an Ed25519 signature over its content and its place in the hash chain.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trusts the signature, not the count. Forged copies fail signature checks regardless of how many there are.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replica is enough to reconstruct the truth — and the system repairs itself from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07301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617720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red-team scenarios run live from the admin dashboard — including this one. All 10 defended, chain intact afterwards.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POSTURE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protection, detection and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49240" cy="2029968"/>
          </a:xfrm>
          <a:prstGeom prst="roundRect">
            <a:avLst>
              <a:gd name="adj" fmla="val 4054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48256"/>
            <a:ext cx="4800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runs locally on bank infrastructure — explanations never leave the network for a third-party AI provider. TLS in transit, encryption at rest, MPINs hashed and never logged.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481328"/>
            <a:ext cx="5349240" cy="2029968"/>
          </a:xfrm>
          <a:prstGeom prst="roundRect">
            <a:avLst>
              <a:gd name="adj" fmla="val 4054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642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access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048256"/>
            <a:ext cx="4800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sessions, per-device registration with a trust state, consent-gated aggregation APIs that return 403 without consent, and a separate key for admin endpoints.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12464"/>
            <a:ext cx="5349240" cy="2029968"/>
          </a:xfrm>
          <a:prstGeom prst="roundRect">
            <a:avLst>
              <a:gd name="adj" fmla="val 4054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9534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timing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79392"/>
            <a:ext cx="4800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In-line, before money moves — not batch reconciliation. The full pipeline returns a verdict on every investment, with model inference in single-digit milliseconds.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712464"/>
            <a:ext cx="5349240" cy="2029968"/>
          </a:xfrm>
          <a:prstGeom prst="roundRect">
            <a:avLst>
              <a:gd name="adj" fmla="val 4054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89534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279392"/>
            <a:ext cx="4800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scales horizontally behind a standard load balancer; session state lives in the token. Models are small enough to sit in-process, so there is no separate inference tier.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· PostgreSQL · React Native · XGBoost · PyTorch · Ed25519 · local LLM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NOT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gaps, and where they plug 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0E4530"/>
          </a:solidFill>
          <a:ln w="9525">
            <a:solidFill>
              <a:srgbClr val="1C6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739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&amp; voice assistant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60120" y="21305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built. The substrate is: seven explainability engines already answer “why was I challenged?” from real engine output in three languages. A conversational front end sits on top — not a rewrite.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072384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0E4530"/>
          </a:solidFill>
          <a:ln w="9525">
            <a:solidFill>
              <a:srgbClr val="1C6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21868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/ MNRL and cybercrime reporting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357530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integrated. Every BLOCK already emits a signed, structured record with customer, amount, signals and decision — the exact payload such a report needs. Connecting the feed is an integration task.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517136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0E4530"/>
          </a:solidFill>
          <a:ln w="9525">
            <a:solidFill>
              <a:srgbClr val="1C6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66344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planning and SIM-swap signals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0120" y="502005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wealth engine already supports goals; the app does not yet send them. SIM trust is registered in the risk weights at zero weight, ready to carry signal.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name the edge of our system than demo a mock of 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SecureWealth Twin — Supporting Deck</dc:title>
  <dc:subject>PptxGenJS Presentation</dc:subject>
  <dc:creator>SecureWealth Twin Team</dc:creator>
  <cp:lastModifiedBy>SecureWealth Twin Team</cp:lastModifiedBy>
  <cp:revision>1</cp:revision>
  <dcterms:created xsi:type="dcterms:W3CDTF">2026-08-03T09:36:47Z</dcterms:created>
  <dcterms:modified xsi:type="dcterms:W3CDTF">2026-08-03T09:36:47Z</dcterms:modified>
</cp:coreProperties>
</file>