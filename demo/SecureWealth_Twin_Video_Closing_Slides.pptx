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56463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201988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10485046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385524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7072205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484179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180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0880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Hold on this slide for the first sentence of the closing voice-over.</a:t>
            </a:r>
            <a:endParaRPr lang="en-US"/>
          </a:p>
        </p:txBody>
      </p:sp>
      <p:sp>
        <p:nvSpPr>
          <p:cNvPr id="1067367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5952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318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Hold on this slide for the second sentence of the closing voice-over.</a:t>
            </a:r>
            <a:endParaRPr lang="en-US"/>
          </a:p>
        </p:txBody>
      </p:sp>
      <p:sp>
        <p:nvSpPr>
          <p:cNvPr id="1696641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426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6937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Final slide. Hold for two seconds of silence after "Thank you" before cutting.</a:t>
            </a:r>
            <a:endParaRPr lang="en-US"/>
          </a:p>
        </p:txBody>
      </p:sp>
      <p:sp>
        <p:nvSpPr>
          <p:cNvPr id="1237059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592267" name="Text 0"/>
          <p:cNvSpPr/>
          <p:nvPr/>
        </p:nvSpPr>
        <p:spPr bwMode="auto">
          <a:xfrm>
            <a:off x="685800" y="50292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12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WHAT THE CUSTOMER GETS</a:t>
            </a:r>
            <a:endParaRPr lang="en-US" sz="1200"/>
          </a:p>
        </p:txBody>
      </p:sp>
      <p:sp>
        <p:nvSpPr>
          <p:cNvPr id="846206062" name="Text 1"/>
          <p:cNvSpPr/>
          <p:nvPr/>
        </p:nvSpPr>
        <p:spPr bwMode="auto">
          <a:xfrm>
            <a:off x="68580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800" b="1">
                <a:solidFill>
                  <a:srgbClr val="0B5D3B"/>
                </a:solidFill>
                <a:latin typeface="Cambria"/>
                <a:ea typeface="Cambria"/>
                <a:cs typeface="Cambria"/>
              </a:rPr>
              <a:t>For the customer</a:t>
            </a:r>
            <a:endParaRPr lang="en-US" sz="3800"/>
          </a:p>
        </p:txBody>
      </p:sp>
      <p:sp>
        <p:nvSpPr>
          <p:cNvPr id="1929003010" name="Shape 2"/>
          <p:cNvSpPr/>
          <p:nvPr/>
        </p:nvSpPr>
        <p:spPr bwMode="auto">
          <a:xfrm>
            <a:off x="685800" y="1965960"/>
            <a:ext cx="3291840" cy="2971800"/>
          </a:xfrm>
          <a:prstGeom prst="roundRect">
            <a:avLst>
              <a:gd name="adj" fmla="val 3077"/>
            </a:avLst>
          </a:prstGeom>
          <a:solidFill>
            <a:srgbClr val="F2F5F3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133335729" name="Text 3"/>
          <p:cNvSpPr/>
          <p:nvPr/>
        </p:nvSpPr>
        <p:spPr bwMode="auto">
          <a:xfrm>
            <a:off x="1005840" y="235000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0B5D3B"/>
                </a:solidFill>
                <a:latin typeface="Calibri"/>
                <a:ea typeface="Calibri"/>
                <a:cs typeface="Calibri"/>
              </a:rPr>
              <a:t>Advice they</a:t>
            </a:r>
            <a:endParaRPr lang="en-US" sz="2100"/>
          </a:p>
          <a:p>
            <a:pPr marL="0" indent="0">
              <a:buNone/>
              <a:defRPr/>
            </a:pPr>
            <a:r>
              <a:rPr lang="en-US" sz="2100" b="1">
                <a:solidFill>
                  <a:srgbClr val="0B5D3B"/>
                </a:solidFill>
                <a:latin typeface="Calibri"/>
                <a:ea typeface="Calibri"/>
                <a:cs typeface="Calibri"/>
              </a:rPr>
              <a:t>can trust</a:t>
            </a:r>
            <a:endParaRPr lang="en-US" sz="2100"/>
          </a:p>
        </p:txBody>
      </p:sp>
      <p:sp>
        <p:nvSpPr>
          <p:cNvPr id="1966542032" name="Text 4"/>
          <p:cNvSpPr/>
          <p:nvPr/>
        </p:nvSpPr>
        <p:spPr bwMode="auto">
          <a:xfrm>
            <a:off x="1005840" y="329184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45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Because the engine is willing to recommend nothing at all when nothing is the right answer.</a:t>
            </a:r>
            <a:endParaRPr lang="en-US" sz="1450"/>
          </a:p>
        </p:txBody>
      </p:sp>
      <p:sp>
        <p:nvSpPr>
          <p:cNvPr id="1968544361" name="Shape 5"/>
          <p:cNvSpPr/>
          <p:nvPr/>
        </p:nvSpPr>
        <p:spPr bwMode="auto">
          <a:xfrm>
            <a:off x="4434840" y="1965960"/>
            <a:ext cx="3291840" cy="2971800"/>
          </a:xfrm>
          <a:prstGeom prst="roundRect">
            <a:avLst>
              <a:gd name="adj" fmla="val 3077"/>
            </a:avLst>
          </a:prstGeom>
          <a:solidFill>
            <a:srgbClr val="F2F5F3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1193667066" name="Text 6"/>
          <p:cNvSpPr/>
          <p:nvPr/>
        </p:nvSpPr>
        <p:spPr bwMode="auto">
          <a:xfrm>
            <a:off x="4754880" y="235000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0B5D3B"/>
                </a:solidFill>
                <a:latin typeface="Calibri"/>
                <a:ea typeface="Calibri"/>
                <a:cs typeface="Calibri"/>
              </a:rPr>
              <a:t>Security they</a:t>
            </a:r>
            <a:endParaRPr lang="en-US" sz="2100"/>
          </a:p>
          <a:p>
            <a:pPr marL="0" indent="0">
              <a:buNone/>
              <a:defRPr/>
            </a:pPr>
            <a:r>
              <a:rPr lang="en-US" sz="2100" b="1">
                <a:solidFill>
                  <a:srgbClr val="0B5D3B"/>
                </a:solidFill>
                <a:latin typeface="Calibri"/>
                <a:ea typeface="Calibri"/>
                <a:cs typeface="Calibri"/>
              </a:rPr>
              <a:t>can understand</a:t>
            </a:r>
            <a:endParaRPr lang="en-US" sz="2100"/>
          </a:p>
        </p:txBody>
      </p:sp>
      <p:sp>
        <p:nvSpPr>
          <p:cNvPr id="956568346" name="Text 7"/>
          <p:cNvSpPr/>
          <p:nvPr/>
        </p:nvSpPr>
        <p:spPr bwMode="auto">
          <a:xfrm>
            <a:off x="4754880" y="329184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45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Every check explained in plain language — in English, Hindi or Punjabi.</a:t>
            </a:r>
            <a:endParaRPr lang="en-US" sz="1450"/>
          </a:p>
        </p:txBody>
      </p:sp>
      <p:sp>
        <p:nvSpPr>
          <p:cNvPr id="215742532" name="Shape 8"/>
          <p:cNvSpPr/>
          <p:nvPr/>
        </p:nvSpPr>
        <p:spPr bwMode="auto">
          <a:xfrm>
            <a:off x="8183880" y="1965960"/>
            <a:ext cx="3291840" cy="2971800"/>
          </a:xfrm>
          <a:prstGeom prst="roundRect">
            <a:avLst>
              <a:gd name="adj" fmla="val 3077"/>
            </a:avLst>
          </a:prstGeom>
          <a:solidFill>
            <a:srgbClr val="F2F5F3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721912860" name="Text 9"/>
          <p:cNvSpPr/>
          <p:nvPr/>
        </p:nvSpPr>
        <p:spPr bwMode="auto">
          <a:xfrm>
            <a:off x="8503920" y="235000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0B5D3B"/>
                </a:solidFill>
                <a:latin typeface="Calibri"/>
                <a:ea typeface="Calibri"/>
                <a:cs typeface="Calibri"/>
              </a:rPr>
              <a:t>One tap to say</a:t>
            </a:r>
            <a:endParaRPr lang="en-US" sz="2100"/>
          </a:p>
          <a:p>
            <a:pPr marL="0" indent="0">
              <a:buNone/>
              <a:defRPr/>
            </a:pPr>
            <a:r>
              <a:rPr lang="en-US" sz="2100" b="1">
                <a:solidFill>
                  <a:srgbClr val="0B5D3B"/>
                </a:solidFill>
                <a:latin typeface="Calibri"/>
                <a:ea typeface="Calibri"/>
                <a:cs typeface="Calibri"/>
              </a:rPr>
              <a:t>"this wasn't me"</a:t>
            </a:r>
            <a:endParaRPr lang="en-US" sz="2100"/>
          </a:p>
        </p:txBody>
      </p:sp>
      <p:sp>
        <p:nvSpPr>
          <p:cNvPr id="618388683" name="Text 10"/>
          <p:cNvSpPr/>
          <p:nvPr/>
        </p:nvSpPr>
        <p:spPr bwMode="auto">
          <a:xfrm>
            <a:off x="8503920" y="329184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45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 held transaction is stopped and reported the moment the customer says it was not them.</a:t>
            </a:r>
            <a:endParaRPr lang="en-US" sz="14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815007" name="Text 0"/>
          <p:cNvSpPr/>
          <p:nvPr/>
        </p:nvSpPr>
        <p:spPr bwMode="auto">
          <a:xfrm>
            <a:off x="685800" y="50292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12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WHAT THE BANK GETS</a:t>
            </a:r>
            <a:endParaRPr lang="en-US" sz="1200"/>
          </a:p>
        </p:txBody>
      </p:sp>
      <p:sp>
        <p:nvSpPr>
          <p:cNvPr id="1608365551" name="Text 1"/>
          <p:cNvSpPr/>
          <p:nvPr/>
        </p:nvSpPr>
        <p:spPr bwMode="auto">
          <a:xfrm>
            <a:off x="68580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800" b="1">
                <a:solidFill>
                  <a:srgbClr val="0B5D3B"/>
                </a:solidFill>
                <a:latin typeface="Cambria"/>
                <a:ea typeface="Cambria"/>
                <a:cs typeface="Cambria"/>
              </a:rPr>
              <a:t>For the bank</a:t>
            </a:r>
            <a:endParaRPr lang="en-US" sz="3800"/>
          </a:p>
        </p:txBody>
      </p:sp>
      <p:sp>
        <p:nvSpPr>
          <p:cNvPr id="987072824" name="Shape 2"/>
          <p:cNvSpPr/>
          <p:nvPr/>
        </p:nvSpPr>
        <p:spPr bwMode="auto">
          <a:xfrm>
            <a:off x="685800" y="1965960"/>
            <a:ext cx="3291840" cy="2971800"/>
          </a:xfrm>
          <a:prstGeom prst="roundRect">
            <a:avLst>
              <a:gd name="adj" fmla="val 3077"/>
            </a:avLst>
          </a:prstGeom>
          <a:solidFill>
            <a:srgbClr val="F2F5F3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959053501" name="Text 3"/>
          <p:cNvSpPr/>
          <p:nvPr/>
        </p:nvSpPr>
        <p:spPr bwMode="auto">
          <a:xfrm>
            <a:off x="1005840" y="235000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0B5D3B"/>
                </a:solidFill>
                <a:latin typeface="Calibri"/>
                <a:ea typeface="Calibri"/>
                <a:cs typeface="Calibri"/>
              </a:rPr>
              <a:t>Fraud stopped</a:t>
            </a:r>
            <a:endParaRPr lang="en-US" sz="2100"/>
          </a:p>
          <a:p>
            <a:pPr marL="0" indent="0">
              <a:buNone/>
              <a:defRPr/>
            </a:pPr>
            <a:r>
              <a:rPr lang="en-US" sz="2100" b="1">
                <a:solidFill>
                  <a:srgbClr val="0B5D3B"/>
                </a:solidFill>
                <a:latin typeface="Calibri"/>
                <a:ea typeface="Calibri"/>
                <a:cs typeface="Calibri"/>
              </a:rPr>
              <a:t>before money moves</a:t>
            </a:r>
            <a:endParaRPr lang="en-US" sz="2100"/>
          </a:p>
        </p:txBody>
      </p:sp>
      <p:sp>
        <p:nvSpPr>
          <p:cNvPr id="2059791856" name="Text 4"/>
          <p:cNvSpPr/>
          <p:nvPr/>
        </p:nvSpPr>
        <p:spPr bwMode="auto">
          <a:xfrm>
            <a:off x="1005840" y="329184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45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Judged in-line on every investment — not reconciled after the funds have gone.</a:t>
            </a:r>
            <a:endParaRPr lang="en-US" sz="1450"/>
          </a:p>
        </p:txBody>
      </p:sp>
      <p:sp>
        <p:nvSpPr>
          <p:cNvPr id="795216051" name="Shape 5"/>
          <p:cNvSpPr/>
          <p:nvPr/>
        </p:nvSpPr>
        <p:spPr bwMode="auto">
          <a:xfrm>
            <a:off x="4434840" y="1965960"/>
            <a:ext cx="3291840" cy="2971800"/>
          </a:xfrm>
          <a:prstGeom prst="roundRect">
            <a:avLst>
              <a:gd name="adj" fmla="val 3077"/>
            </a:avLst>
          </a:prstGeom>
          <a:solidFill>
            <a:srgbClr val="F2F5F3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1789639785" name="Text 6"/>
          <p:cNvSpPr/>
          <p:nvPr/>
        </p:nvSpPr>
        <p:spPr bwMode="auto">
          <a:xfrm>
            <a:off x="4754880" y="235000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0B5D3B"/>
                </a:solidFill>
                <a:latin typeface="Calibri"/>
                <a:ea typeface="Calibri"/>
                <a:cs typeface="Calibri"/>
              </a:rPr>
              <a:t>An audit trail that</a:t>
            </a:r>
            <a:endParaRPr lang="en-US" sz="2100"/>
          </a:p>
          <a:p>
            <a:pPr marL="0" indent="0">
              <a:buNone/>
              <a:defRPr/>
            </a:pPr>
            <a:r>
              <a:rPr lang="en-US" sz="2100" b="1">
                <a:solidFill>
                  <a:srgbClr val="0B5D3B"/>
                </a:solidFill>
                <a:latin typeface="Calibri"/>
                <a:ea typeface="Calibri"/>
                <a:cs typeface="Calibri"/>
              </a:rPr>
              <a:t>survives an insider</a:t>
            </a:r>
            <a:endParaRPr lang="en-US" sz="2100"/>
          </a:p>
        </p:txBody>
      </p:sp>
      <p:sp>
        <p:nvSpPr>
          <p:cNvPr id="1758311598" name="Text 7"/>
          <p:cNvSpPr/>
          <p:nvPr/>
        </p:nvSpPr>
        <p:spPr bwMode="auto">
          <a:xfrm>
            <a:off x="4754880" y="329184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45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Four signed copies. Rewriting three of them still fails, because signatures beat head-count.</a:t>
            </a:r>
            <a:endParaRPr lang="en-US" sz="1450"/>
          </a:p>
        </p:txBody>
      </p:sp>
      <p:sp>
        <p:nvSpPr>
          <p:cNvPr id="1721183591" name="Shape 8"/>
          <p:cNvSpPr/>
          <p:nvPr/>
        </p:nvSpPr>
        <p:spPr bwMode="auto">
          <a:xfrm>
            <a:off x="8183880" y="1965960"/>
            <a:ext cx="3291840" cy="2971800"/>
          </a:xfrm>
          <a:prstGeom prst="roundRect">
            <a:avLst>
              <a:gd name="adj" fmla="val 3077"/>
            </a:avLst>
          </a:prstGeom>
          <a:solidFill>
            <a:srgbClr val="F2F5F3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386510630" name="Text 9"/>
          <p:cNvSpPr/>
          <p:nvPr/>
        </p:nvSpPr>
        <p:spPr bwMode="auto">
          <a:xfrm>
            <a:off x="8503920" y="235000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0B5D3B"/>
                </a:solidFill>
                <a:latin typeface="Calibri"/>
                <a:ea typeface="Calibri"/>
                <a:cs typeface="Calibri"/>
              </a:rPr>
              <a:t>Decisions that can</a:t>
            </a:r>
            <a:endParaRPr lang="en-US" sz="2100"/>
          </a:p>
          <a:p>
            <a:pPr marL="0" indent="0">
              <a:buNone/>
              <a:defRPr/>
            </a:pPr>
            <a:r>
              <a:rPr lang="en-US" sz="2100" b="1">
                <a:solidFill>
                  <a:srgbClr val="0B5D3B"/>
                </a:solidFill>
                <a:latin typeface="Calibri"/>
                <a:ea typeface="Calibri"/>
                <a:cs typeface="Calibri"/>
              </a:rPr>
              <a:t>be defended</a:t>
            </a:r>
            <a:endParaRPr lang="en-US" sz="2100"/>
          </a:p>
        </p:txBody>
      </p:sp>
      <p:sp>
        <p:nvSpPr>
          <p:cNvPr id="1303609322" name="Text 10"/>
          <p:cNvSpPr/>
          <p:nvPr/>
        </p:nvSpPr>
        <p:spPr bwMode="auto">
          <a:xfrm>
            <a:off x="8503920" y="329184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45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Every threshold published, every signal recorded — explainable to a regulator field by field.</a:t>
            </a:r>
            <a:endParaRPr lang="en-US" sz="14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07301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402282" name="Text 0"/>
          <p:cNvSpPr/>
          <p:nvPr/>
        </p:nvSpPr>
        <p:spPr bwMode="auto">
          <a:xfrm>
            <a:off x="822960" y="16916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5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SecureWealth Twin</a:t>
            </a:r>
            <a:endParaRPr lang="en-US" sz="5400"/>
          </a:p>
        </p:txBody>
      </p:sp>
      <p:sp>
        <p:nvSpPr>
          <p:cNvPr id="1229643071" name="Text 1"/>
          <p:cNvSpPr/>
          <p:nvPr/>
        </p:nvSpPr>
        <p:spPr bwMode="auto">
          <a:xfrm>
            <a:off x="868680" y="2606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i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Wealth First, Security Always</a:t>
            </a:r>
            <a:endParaRPr lang="en-US" sz="2200"/>
          </a:p>
        </p:txBody>
      </p:sp>
      <p:sp>
        <p:nvSpPr>
          <p:cNvPr id="2042182720" name="Shape 2"/>
          <p:cNvSpPr/>
          <p:nvPr/>
        </p:nvSpPr>
        <p:spPr bwMode="auto">
          <a:xfrm>
            <a:off x="822960" y="361188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0E4530"/>
          </a:solidFill>
          <a:ln w="9525">
            <a:solidFill>
              <a:srgbClr val="1C6B4A"/>
            </a:solidFill>
            <a:prstDash val="solid"/>
          </a:ln>
        </p:spPr>
      </p:sp>
      <p:sp>
        <p:nvSpPr>
          <p:cNvPr id="2064877359" name="Text 3"/>
          <p:cNvSpPr/>
          <p:nvPr/>
        </p:nvSpPr>
        <p:spPr bwMode="auto">
          <a:xfrm>
            <a:off x="822960" y="36118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Team AMAVAS   ·   Swayam  ·  Mahak  ·  Archit  ·  Ayush  ·  Vishwas  ·  Aayat</a:t>
            </a:r>
            <a:endParaRPr lang="en-US" sz="1800"/>
          </a:p>
        </p:txBody>
      </p:sp>
      <p:sp>
        <p:nvSpPr>
          <p:cNvPr id="46007486" name="Text 4"/>
          <p:cNvSpPr/>
          <p:nvPr/>
        </p:nvSpPr>
        <p:spPr bwMode="auto"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700" i="1">
                <a:solidFill>
                  <a:srgbClr val="C9D6CE"/>
                </a:solidFill>
                <a:latin typeface="Calibri"/>
                <a:ea typeface="Calibri"/>
                <a:cs typeface="Calibri"/>
              </a:rPr>
              <a:t>Thank you</a:t>
            </a:r>
            <a:endParaRPr lang="en-US" sz="1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SecureWealth Twin — Video Closing Slides</dc:title>
  <dc:subject>PptxGenJS Presentation</dc:subject>
  <dc:creator>PptxGenJS</dc:creator>
  <cp:lastModifiedBy/>
  <cp:revision>2</cp:revision>
  <dcterms:created xsi:type="dcterms:W3CDTF">2026-08-06T07:42:24Z</dcterms:created>
  <dcterms:modified xsi:type="dcterms:W3CDTF">2026-08-06T19:03:25Z</dcterms:modified>
</cp:coreProperties>
</file>